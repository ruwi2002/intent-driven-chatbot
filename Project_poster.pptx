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81C1-1D80-1DE9-D60F-42D9F3255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E4776-A16A-822B-7E52-6E6000164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E350D-40E7-FF57-068F-EC9554F0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97BE-5266-8947-1DA0-9531394E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1E146-04C0-6B5B-66C4-99BC4134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2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9541-C807-8EBA-FA3F-793CEA0A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B8F5-7932-2021-D413-136E44430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C0D27-7CBB-E21B-BEFF-EBF900E2B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5E708-888A-1297-4705-F57D75D8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C898A-0B63-04DD-8343-5F452D9D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60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DCD3-E99C-DEE6-0CEB-001ECEF50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3B866-B345-12E4-E088-E685CED63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B1194-006B-F184-77AC-EF1BFBCE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DCBDB-94CB-C36B-93EE-CF17FC2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027C1-3914-5C83-DFD6-D15DF39A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1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AEF7-ECCA-FD06-DF4F-765EDF1ED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B7272-B30F-9FFE-C034-F454FB971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98FD7-106E-DB7B-D7F7-565478CAD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08321-6F05-2F05-D406-9AAF8F2C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17283-1F98-F06E-724B-9C991143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62B7-E4C2-FF48-ACA7-240CB232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5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7A89-CB6E-0677-36DC-16DCB58B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7E937-09AB-D501-FB2B-7C89AD17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74D81-807B-72E2-3114-57A8BE90E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FE367-044C-23E5-5905-9DFE7EDE2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D929D-25A1-D67E-DF1D-B6462CA8F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6A042-4219-35C9-FC2D-7A12F5E57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95AA5-E2D6-0196-D242-6CD5D81B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7E304-B869-C822-16F1-97E2F580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04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1FC5-1472-E226-4F97-32AD2A74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1F4920-310A-A225-779D-E70342884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7B543-BD47-F2A4-2A62-32625FE2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C32CF-9803-D53A-78D7-91DD8CA5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37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D6F983-8E90-99C9-F3A1-119C2C76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69801-6064-7CF3-22B2-B7CE514A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6167E-F891-8FF8-A339-5282E6A4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730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31432-69E2-44EA-9137-3C3007C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1B6B2-C67E-9A16-6FB1-A7D669CD9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7C271-AAD8-B258-993B-0481A9D34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7007D-AD8C-CD4C-E4C6-5C7842C9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88F5F-79A8-FA35-4177-65F03598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47BD0-F9ED-4A10-2FB0-EA672A86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19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6F46-9D0F-B120-62FE-C56616F7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C9496-1418-F283-E092-DDBACDE30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1D7D7-ACE3-76AE-6407-AFB8806BF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10454-C9F0-FCE1-8973-D57020C16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8122B-C625-CC00-C0DE-9F69493A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077A2-FA5D-9DA4-56DA-CEAC27D9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72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F03D-9C9C-F7AA-1B62-885EEDC7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9048A-08D9-2137-023B-197507B80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7724-4E1D-4E59-9C03-D91A5E88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05DA2-7FE9-FEC4-4E04-B63C7344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8591-C956-60A6-AA3A-C5766355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2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A1316F-112A-3C36-FDE7-CB19C4838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31071-8D9C-E5B6-E170-3FB0C6D78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8C7E-DBC9-158F-7FBF-3E43072D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B6867-2E12-F36B-2056-2167F813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61B11-AF60-DD6B-3BBC-3DFCD600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1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7E0A6-62D3-7DF2-EEB7-51FD3F9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1B49D-7862-9E2D-F3CC-4E1928372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AF1F0-660F-A010-E9D1-1B74BA27B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C3DA7-C4C3-4CEE-ADE0-4A3D9BE02AEB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9397D-4559-FD64-D173-B5BF0A4FA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48787-DB50-97D2-442E-64430D463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9FE07-5CEB-46CE-ADA7-4CB371070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66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EF6CA0E-8ABB-57B8-A20F-6C31D5FEFFA4}"/>
              </a:ext>
            </a:extLst>
          </p:cNvPr>
          <p:cNvSpPr/>
          <p:nvPr/>
        </p:nvSpPr>
        <p:spPr>
          <a:xfrm>
            <a:off x="8435573" y="3010880"/>
            <a:ext cx="3679092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2491EF-F74E-C451-652D-11C24D55DCA5}"/>
              </a:ext>
            </a:extLst>
          </p:cNvPr>
          <p:cNvSpPr/>
          <p:nvPr/>
        </p:nvSpPr>
        <p:spPr>
          <a:xfrm>
            <a:off x="8435573" y="1788238"/>
            <a:ext cx="3679092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19D3EE-4471-26B7-CBCE-D5816200EFF0}"/>
              </a:ext>
            </a:extLst>
          </p:cNvPr>
          <p:cNvSpPr/>
          <p:nvPr/>
        </p:nvSpPr>
        <p:spPr>
          <a:xfrm>
            <a:off x="8435573" y="646164"/>
            <a:ext cx="3679092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042026-2582-5024-9EB7-7DE27613D622}"/>
              </a:ext>
            </a:extLst>
          </p:cNvPr>
          <p:cNvSpPr/>
          <p:nvPr/>
        </p:nvSpPr>
        <p:spPr>
          <a:xfrm>
            <a:off x="4499123" y="4487478"/>
            <a:ext cx="3679092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D6566F-7B9B-E291-C83E-5C9466C49FFA}"/>
              </a:ext>
            </a:extLst>
          </p:cNvPr>
          <p:cNvSpPr/>
          <p:nvPr/>
        </p:nvSpPr>
        <p:spPr>
          <a:xfrm>
            <a:off x="4550714" y="638711"/>
            <a:ext cx="3679092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A7A68A-00D3-1581-9C37-497CB2B96A13}"/>
              </a:ext>
            </a:extLst>
          </p:cNvPr>
          <p:cNvSpPr/>
          <p:nvPr/>
        </p:nvSpPr>
        <p:spPr>
          <a:xfrm>
            <a:off x="5595" y="5664763"/>
            <a:ext cx="4447533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D82D16-AD11-02C3-D1FC-B9FC61619C94}"/>
              </a:ext>
            </a:extLst>
          </p:cNvPr>
          <p:cNvSpPr/>
          <p:nvPr/>
        </p:nvSpPr>
        <p:spPr>
          <a:xfrm>
            <a:off x="-2799" y="4216970"/>
            <a:ext cx="4447533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52EF18-0E12-F006-38CE-08C0B63AB3BF}"/>
              </a:ext>
            </a:extLst>
          </p:cNvPr>
          <p:cNvSpPr/>
          <p:nvPr/>
        </p:nvSpPr>
        <p:spPr>
          <a:xfrm>
            <a:off x="-2798" y="2263228"/>
            <a:ext cx="4447533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660193-3210-1679-25E7-AA01EB6B1B3F}"/>
              </a:ext>
            </a:extLst>
          </p:cNvPr>
          <p:cNvSpPr/>
          <p:nvPr/>
        </p:nvSpPr>
        <p:spPr>
          <a:xfrm>
            <a:off x="0" y="638711"/>
            <a:ext cx="4447533" cy="286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6F8C6F-F16D-B912-17D3-8275579ED73C}"/>
              </a:ext>
            </a:extLst>
          </p:cNvPr>
          <p:cNvSpPr/>
          <p:nvPr/>
        </p:nvSpPr>
        <p:spPr>
          <a:xfrm>
            <a:off x="0" y="0"/>
            <a:ext cx="12192000" cy="6035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University of Roehampton - Wikipedia">
            <a:extLst>
              <a:ext uri="{FF2B5EF4-FFF2-40B4-BE49-F238E27FC236}">
                <a16:creationId xmlns:a16="http://schemas.microsoft.com/office/drawing/2014/main" id="{D45B0534-26E5-E43F-C34B-16B04B38D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80" y="75819"/>
            <a:ext cx="1003910" cy="45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14244B-B8EF-6537-C000-88422390FC62}"/>
              </a:ext>
            </a:extLst>
          </p:cNvPr>
          <p:cNvSpPr txBox="1"/>
          <p:nvPr/>
        </p:nvSpPr>
        <p:spPr>
          <a:xfrm>
            <a:off x="0" y="75819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Intent-Driven Chatbot for Real-Time Transport Information using TfL API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8E525-8467-2A24-CD3F-683B53A60DB7}"/>
              </a:ext>
            </a:extLst>
          </p:cNvPr>
          <p:cNvSpPr txBox="1"/>
          <p:nvPr/>
        </p:nvSpPr>
        <p:spPr>
          <a:xfrm>
            <a:off x="10332720" y="280797"/>
            <a:ext cx="185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 b="1" dirty="0" err="1">
                <a:solidFill>
                  <a:schemeClr val="bg1"/>
                </a:solidFill>
              </a:rPr>
              <a:t>Ruwanima</a:t>
            </a:r>
            <a:r>
              <a:rPr lang="en-GB" sz="1400" b="1" dirty="0">
                <a:solidFill>
                  <a:schemeClr val="bg1"/>
                </a:solidFill>
              </a:rPr>
              <a:t> Edirisinghe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12F212-264E-A606-73A3-339A17835772}"/>
              </a:ext>
            </a:extLst>
          </p:cNvPr>
          <p:cNvSpPr txBox="1"/>
          <p:nvPr/>
        </p:nvSpPr>
        <p:spPr>
          <a:xfrm>
            <a:off x="-5595" y="605268"/>
            <a:ext cx="4621029" cy="1684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INTRODUCTION</a:t>
            </a:r>
            <a:r>
              <a:rPr lang="en-IN" sz="100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Urban transport systems generate large volumes of real-time data; however, access to this information remains fragmented across multiple platforms.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Existing solutions rely on static interfaces, requiring users to manually navigate multiple sources.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This project proposes a conversational chatbot that enables users to retrieve real-time transport information through natural language interaction.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D656BC-D234-818D-8B99-EB6BC520F5A7}"/>
              </a:ext>
            </a:extLst>
          </p:cNvPr>
          <p:cNvSpPr txBox="1"/>
          <p:nvPr/>
        </p:nvSpPr>
        <p:spPr>
          <a:xfrm>
            <a:off x="8409728" y="630894"/>
            <a:ext cx="3794294" cy="1222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Problem Statement 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Users face difficulties accessing transport data efficiently due to non-conversational interfaces and fragmented systems.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This leads to delays in decision-making, particularly in time-sensitive travel scenarios.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E15AD5-BB51-6C78-2244-C24A9007FC48}"/>
              </a:ext>
            </a:extLst>
          </p:cNvPr>
          <p:cNvSpPr txBox="1"/>
          <p:nvPr/>
        </p:nvSpPr>
        <p:spPr>
          <a:xfrm>
            <a:off x="4453128" y="3774041"/>
            <a:ext cx="3794294" cy="760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dirty="0"/>
              <a:t>The system follows a layered architecture where user input is processed through intent detection and routed to appropriate TfL API endpoints.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D6396-0CB9-1EB6-F1A8-9394A155EB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735" y="958320"/>
            <a:ext cx="3020271" cy="28182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039714D-F9C6-6F4C-BA4E-5A2E30E8ABB3}"/>
              </a:ext>
            </a:extLst>
          </p:cNvPr>
          <p:cNvSpPr txBox="1"/>
          <p:nvPr/>
        </p:nvSpPr>
        <p:spPr>
          <a:xfrm>
            <a:off x="4615434" y="647282"/>
            <a:ext cx="24014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System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83EEC0-D97D-FE2A-6234-024C9E1AB686}"/>
              </a:ext>
            </a:extLst>
          </p:cNvPr>
          <p:cNvSpPr txBox="1"/>
          <p:nvPr/>
        </p:nvSpPr>
        <p:spPr>
          <a:xfrm>
            <a:off x="-5595" y="2237725"/>
            <a:ext cx="4453128" cy="1915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Methodology</a:t>
            </a:r>
            <a:r>
              <a:rPr lang="en-IN" sz="1000" dirty="0"/>
              <a:t>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An iterative development approach was adopted.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Initial prototyping was conducted using Make.com.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The system was later migrated to Rivet to enable modular workflow design.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The chatbot uses: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Rule-based intent detection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API integration using REST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JavaScript for response processing</a:t>
            </a:r>
            <a:endParaRPr lang="en-IN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DD9017-1263-36E6-D8D0-3DBEB02A3187}"/>
              </a:ext>
            </a:extLst>
          </p:cNvPr>
          <p:cNvSpPr txBox="1"/>
          <p:nvPr/>
        </p:nvSpPr>
        <p:spPr>
          <a:xfrm>
            <a:off x="8435573" y="2982830"/>
            <a:ext cx="3794294" cy="1915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API INTEGRATION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The chatbot integrates multiple TfL API endpoints:</a:t>
            </a:r>
            <a:br>
              <a:rPr lang="en-GB" sz="1000" dirty="0"/>
            </a:br>
            <a:r>
              <a:rPr lang="en-GB" sz="1000" dirty="0"/>
              <a:t>• Line Status API </a:t>
            </a:r>
            <a:br>
              <a:rPr lang="en-GB" sz="1000" dirty="0"/>
            </a:br>
            <a:r>
              <a:rPr lang="en-GB" sz="1000" dirty="0"/>
              <a:t>• StopPoint Search API </a:t>
            </a:r>
            <a:br>
              <a:rPr lang="en-GB" sz="1000" dirty="0"/>
            </a:br>
            <a:r>
              <a:rPr lang="en-GB" sz="1000" dirty="0"/>
              <a:t>• Arrivals API </a:t>
            </a:r>
            <a:br>
              <a:rPr lang="en-GB" sz="1000" dirty="0"/>
            </a:br>
            <a:r>
              <a:rPr lang="en-GB" sz="1000" dirty="0"/>
              <a:t>• Journey Planner API </a:t>
            </a:r>
            <a:br>
              <a:rPr lang="en-GB" sz="1000" dirty="0"/>
            </a:br>
            <a:r>
              <a:rPr lang="en-GB" sz="1000" dirty="0"/>
              <a:t>Multi-step API orchestration is required for tasks such as arrival prediction.</a:t>
            </a:r>
            <a:endParaRPr lang="en-IN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477D2E-C291-6772-A05D-1754786E1A9A}"/>
              </a:ext>
            </a:extLst>
          </p:cNvPr>
          <p:cNvSpPr txBox="1"/>
          <p:nvPr/>
        </p:nvSpPr>
        <p:spPr>
          <a:xfrm>
            <a:off x="8409727" y="1746110"/>
            <a:ext cx="2768084" cy="1222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OBJECTIVES</a:t>
            </a:r>
            <a:r>
              <a:rPr lang="en-IN" sz="1000" dirty="0"/>
              <a:t>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Develop an intent-driven chatbot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Integrate real-time transport APIs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Implement modular architecture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Evaluate system performance</a:t>
            </a:r>
            <a:endParaRPr lang="en-IN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BDBE62-83E2-6DCE-5514-EBACB08D167F}"/>
              </a:ext>
            </a:extLst>
          </p:cNvPr>
          <p:cNvSpPr txBox="1"/>
          <p:nvPr/>
        </p:nvSpPr>
        <p:spPr>
          <a:xfrm>
            <a:off x="0" y="4171233"/>
            <a:ext cx="4615434" cy="1453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RESULTS</a:t>
            </a:r>
            <a:r>
              <a:rPr lang="en-IN" sz="1000" dirty="0"/>
              <a:t>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The system successfully retrieves real-time data and provides structured responses.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Testing confirmed: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Accurate line status retrieval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Reliable arrival predictions  </a:t>
            </a:r>
          </a:p>
          <a:p>
            <a:pPr>
              <a:lnSpc>
                <a:spcPct val="150000"/>
              </a:lnSpc>
            </a:pPr>
            <a:r>
              <a:rPr lang="en-GB" sz="1000" dirty="0"/>
              <a:t>• Functional journey planning</a:t>
            </a:r>
            <a:endParaRPr lang="en-IN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0BAF34-EECE-3A94-16B7-598DAD9BF9F8}"/>
              </a:ext>
            </a:extLst>
          </p:cNvPr>
          <p:cNvSpPr txBox="1"/>
          <p:nvPr/>
        </p:nvSpPr>
        <p:spPr>
          <a:xfrm>
            <a:off x="0" y="5643076"/>
            <a:ext cx="3956599" cy="99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CHALLENGES</a:t>
            </a:r>
            <a:r>
              <a:rPr lang="en-IN" sz="1000" dirty="0"/>
              <a:t>  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• Ambiguous station names → resolved using disambiguation logic  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• Complex JSON responses → handled via data parsing  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• Intent misclassification → improved through iteration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1E6314-AC6A-A111-D6DE-266B82E1E6D0}"/>
              </a:ext>
            </a:extLst>
          </p:cNvPr>
          <p:cNvSpPr txBox="1"/>
          <p:nvPr/>
        </p:nvSpPr>
        <p:spPr>
          <a:xfrm>
            <a:off x="4447533" y="4455595"/>
            <a:ext cx="3782273" cy="237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REFERENCES</a:t>
            </a:r>
            <a:r>
              <a:rPr lang="en-IN" sz="1000" dirty="0"/>
              <a:t>   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[1] Transport for London, “Unified API Documentation,” 2024. [Online]. Available: https://api.tfl.gov.uk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[2] D. </a:t>
            </a:r>
            <a:r>
              <a:rPr lang="en-IN" sz="1000" dirty="0" err="1"/>
              <a:t>Jurafsky</a:t>
            </a:r>
            <a:r>
              <a:rPr lang="en-IN" sz="1000" dirty="0"/>
              <a:t> and J. H. Martin, *Speech and Language Processing*, 3rd ed. Stanford, CA, USA: Stanford University, 2023. [Online]. Available: https://web.stanford.edu/~jurafsky/slp3/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[3] R. Fielding, “Architectural Styles and the Design of Network-based Software Architectures,” Ph.D. dissertation, University of California, Irvine, 2000. [Online]. Available: https://www.ics.uci.edu/~fielding/pubs/dissertation/top.htm</a:t>
            </a:r>
          </a:p>
        </p:txBody>
      </p:sp>
    </p:spTree>
    <p:extLst>
      <p:ext uri="{BB962C8B-B14F-4D97-AF65-F5344CB8AC3E}">
        <p14:creationId xmlns:p14="http://schemas.microsoft.com/office/powerpoint/2010/main" val="274259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105D80DE37E9247B65776BE016F3BEB" ma:contentTypeVersion="4" ma:contentTypeDescription="新建文档。" ma:contentTypeScope="" ma:versionID="b9f4d99486dfead6c09053ada7dfd521">
  <xsd:schema xmlns:xsd="http://www.w3.org/2001/XMLSchema" xmlns:xs="http://www.w3.org/2001/XMLSchema" xmlns:p="http://schemas.microsoft.com/office/2006/metadata/properties" xmlns:ns3="f97e06d0-023d-49e4-badc-a4a36c01a6ed" targetNamespace="http://schemas.microsoft.com/office/2006/metadata/properties" ma:root="true" ma:fieldsID="3967b17db013986fa2b4824ea82c475f" ns3:_="">
    <xsd:import namespace="f97e06d0-023d-49e4-badc-a4a36c01a6e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7e06d0-023d-49e4-badc-a4a36c01a6e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BF8B74-85DD-4BEF-9337-57F24CA8F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7e06d0-023d-49e4-badc-a4a36c01a6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50813B-8031-4AA0-968F-B347E0D2FF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AD42F-3FF1-4308-88F0-22461CED95AF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f97e06d0-023d-49e4-badc-a4a36c01a6ed"/>
    <ds:schemaRef ds:uri="http://www.w3.org/XML/1998/namespace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420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2026-05-03T13:42:27Z</dcterms:created>
  <dcterms:modified xsi:type="dcterms:W3CDTF">2026-05-03T14:25:06Z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0x010100C105D80DE37E9247B65776BE016F3BEB</vt:lpwstr>
  </property>
</Properties>
</file>